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67" r:id="rId23"/>
  </p:sldIdLst>
  <p:sldSz cx="18288000" cy="10287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Garet" panose="020B0604020202020204" charset="0"/>
      <p:regular r:id="rId29"/>
    </p:embeddedFont>
    <p:embeddedFont>
      <p:font typeface="Garet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73" autoAdjust="0"/>
    <p:restoredTop sz="95165" autoAdjust="0"/>
  </p:normalViewPr>
  <p:slideViewPr>
    <p:cSldViewPr>
      <p:cViewPr varScale="1">
        <p:scale>
          <a:sx n="57" d="100"/>
          <a:sy n="57" d="100"/>
        </p:scale>
        <p:origin x="29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51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Buenos días. </a:t>
            </a:r>
            <a:r>
              <a:rPr dirty="0" err="1"/>
              <a:t>Somos</a:t>
            </a:r>
            <a:r>
              <a:rPr dirty="0"/>
              <a:t> Juan Camilo Bernal y Tomás Marín. </a:t>
            </a:r>
            <a:r>
              <a:rPr dirty="0" err="1"/>
              <a:t>Presentamos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laboratorio</a:t>
            </a:r>
            <a:r>
              <a:rPr dirty="0"/>
              <a:t> 1 de </a:t>
            </a:r>
            <a:r>
              <a:rPr dirty="0" err="1"/>
              <a:t>Arquitectura</a:t>
            </a:r>
            <a:r>
              <a:rPr dirty="0"/>
              <a:t> del </a:t>
            </a:r>
            <a:r>
              <a:rPr dirty="0" err="1"/>
              <a:t>Computador</a:t>
            </a:r>
            <a:r>
              <a:rPr dirty="0"/>
              <a:t>. </a:t>
            </a:r>
            <a:r>
              <a:rPr dirty="0" err="1"/>
              <a:t>Abrimos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imagen de disco NTFS, </a:t>
            </a:r>
            <a:r>
              <a:rPr dirty="0" err="1"/>
              <a:t>arqui_ntfs.iso</a:t>
            </a:r>
            <a:r>
              <a:rPr dirty="0"/>
              <a:t>, con un editor hexadecimal (</a:t>
            </a:r>
            <a:r>
              <a:rPr dirty="0" err="1"/>
              <a:t>HxD</a:t>
            </a:r>
            <a:r>
              <a:rPr dirty="0"/>
              <a:t>) y </a:t>
            </a:r>
            <a:r>
              <a:rPr dirty="0" err="1"/>
              <a:t>seguimos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camino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: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mapa</a:t>
            </a:r>
            <a:r>
              <a:rPr dirty="0"/>
              <a:t> del disco hasta </a:t>
            </a:r>
            <a:r>
              <a:rPr dirty="0" err="1"/>
              <a:t>los</a:t>
            </a:r>
            <a:r>
              <a:rPr dirty="0"/>
              <a:t> bytes de un </a:t>
            </a:r>
            <a:r>
              <a:rPr dirty="0" err="1"/>
              <a:t>archivo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Idea central: un disco NTFS es como una biblioteca. El Boot Sector es el mapa de la entrada. La MFT es el fichero de tarjetas: cada archivo tiene una tarjeta, que se llama registro. La tarjeta tiene campos (atributos): nombre, fechas y contenido. Si el archivo es pequeño, el contenido va pegado en la tarjeta; si es grande, la tarjeta solo dice en qué cluster está. Hoy seguimos un archivo, secreto.txt, por los cinco pasos. Cada recuadro de abajo es un número que vamos a calcular o a encontrar.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Comparación en ocho filas. Tabla de control: FAT tiene una tabla que encadena clusters; NTFS tiene la MFT, con un registro de 1024 bytes por cada archivo. Directorio raíz: en FAT es un área fija o una cadena; en NTFS es el registro 5. Datos: en FAT hay un cluster inicial y se sigue la cadena; en NTFS un atributo llamado data run dice dónde están. Archivos pequeños: en FAT siempre usan clusters; en NTFS pueden quedar dentro de su propio registro. Nombres: NTFS usa UTF-16 de hasta 255 caracteres. Tamaño: FAT32 se limita a 4 GB porque guarda el tamaño en 32 bits; NTFS llega a 16 exabytes en teoría. Seguridad: NTFS tiene permisos y cifrado; FAT no. Journaling: NTFS registra los cambios para recuperarse de fallos.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que cambia es cómo se llega a los datos. En FAT: el directorio guarda el nombre y el primer cluster; la tabla FAT dice cuál es el siguiente; y así se sigue la cadena hasta el final. En NTFS: el índice de la carpeta convierte el nombre en un número de registro; con ese número se calcula el sector en la MFT, 32 más 2 por n; y el atributo de datos tiene el contenido, si es pequeño, o una dirección con el cluster y la cantidad de clusters, si es grande. Eso es justo lo que hacemos con secreto.txt en el resto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Abrimos el sector 0 y vemos el Boot Sector. Un byte es una casilla de dos dígitos hexadecimales, y el offset es el número de casilla. Recuadro 1: en las casillas 0x0B y 0x0C hay 00 02. Se lee al revés (little endian): 0x0200 = 512 bytes por sector. Recuadro 2: 08 sectores por cluster, así que un cluster mide 8 × 512 = 4096 bytes. Recuadro 4: la MFT empieza en el cluster 4. Recuadro 6: F6 es -10, que significa 2 elevado a 10 = 1024 bytes por registro. Los recuadros 3, 5 y 7: total de sectores (204 799), copia de la MFT (cluster 12 799) y la firma 55 AA que cierra el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tabla es la clave para leer la captura del Boot Sector. La fila es la columna azul de la izquierda de HxD y las columnas son el encabezado de arriba. Recuadro 1: fila 00000000, columnas 0B y 0C, bytes 00 02, que al revés es 0x0200, 512 bytes por sector. Recuadro 2: fila 00000000, columna 0D, un 08: ocho sectores por cluster. Recuadro 3: el total de sectores. Recuadro 4: fila 00000030, columnas 00 a 07: el 4, la MFT empieza en el cluster 4. Recuadro 5: la copia de la MFT. Recuadro 6: F6, que es menos diez, o sea 2 elevado a 10, 1024 bytes por registro. Recuadro 7: 55 AA, el sello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Dos cuentas y listo. Primera: cluster = bytes por sector por sectores por cluster = 512 por 8 = 4096. Segunda: la MFT empieza en el cluster 4, o sea 4 por 8 = sector 32. Cada registro mide 1024 bytes, que son 2 sectores, entonces el registro n está en el sector 32 más 2 por n. Para secreto.txt, que es el registro 79: 32 + 158 = sector 190. El 79 lo sacamos del índice de su carpeta, como veremos.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Izquierda: el registro 5, la raíz, en el sector 42 (32 + 2 por 5). Recuadro 1: la firma FILE, que marca el inicio de todo registro. Recuadro 2: las banderas 03, que significan en uso y carpeta. Recuadros 3 y 4: los atributos de índice. Recuadro 5: el data run 21 01 85 0C 00. El 21 dice: longitud en 1 byte, posición en 2 bytes. 01 es 1 cluster. 85 0C se lee al revés, 0C85, que es 3205. Entonces el índice está en el cluster 3205, sector 25 640. Derecha: ese bloque INDX. Cada recuadro es el número de registro de un nombre: LEEME.txt es el 64, Muchos_Archivos el 95, PDF el 87 y Proyectos el 74. Proyectos es el que nos lleva a secreto.txt.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Aquí está cada recuadro de las dos capturas con su fila y sus columnas exactas. Izquierda: FILE en la fila 00005400, las banderas 03 en la fila 00005410 columnas 06 y 07, el tipo 90 del índice raíz en la fila 00005520, el tipo A0 en la fila 00005580 y el data run en la fila 000055C0, columnas 08 a 0C: 21 01 85 0C 00, que da el cluster 3205. Derecha: las cuatro entradas de nombres. Cada una empieza con el número del registro: 0x40 es 64, 0x5F es 95, 0x57 es 87 y 0x4A es 74. Nos quedamos con Proyectos, el 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camino completo hasta el archivo. Empezamos en la raíz, el registro 5, sector 42. En su índice vimos que Proyectos es el registro 74: 32 más 148, sector 180. Abrimos ese registro, buscamos en su índice a Universidad, que es el 75, sector 182. Luego Semestre_6, el 76, sector 184. Arquitectura, el 77, sector 186. Laboratorio, el 78, sector 188. Y en el índice de Laboratorio aparece secreto.txt, el registro 79, sector 190. En cada paso es la misma cuenta: 32 más 2 por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Izquierda: el registro 79 en el sector 190. Para leerlo: la fila es la columna azul de la izquierda y las columnas son el encabezado de arriba. Recuadro 1: fila 00017C30, columnas 08 a 0B, bytes 10 00 00 00. Es la casilla 0x38, donde empiezan los atributos. Recuadro 2: fila 00017DD0, columnas 08 a 0B, cuatro FF. Es la casilla 0x1D8: ya no hay más atributos. Sin recuadro, en la fila 00017D70 está el texto FELICITACIONES: es el contenido del archivo y está dentro de la tarjeta, 102 bytes. Eso se llama residente. El camino hasta aquí está en la diapositiva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Izquierda: la tarjeta del registro 70, en el sector 172. Los recuadros 1 a 6 identifican el archivo: firma FILE, número 70, fechas, carpeta padre y nombre. Recuadro 7: tamaño asignado, 0x9000 = 36 864 bytes, que son 9 clusters. Recuadro 8: tamaño real, 0x8FE9 = 36 841 bytes (la etiqueta de la imagen dice 841, pero son 36 841). Recuadro 9: el data run 21 09 00 34 00: 9 clusters desde el cluster 0x3400 = 13 312. Derecha: abrimos ese lugar, 13 312 por 8 = sector 106 496, y vemos PK 03 04, la firma de un archivo ZIP. Un .docx es un ZIP. Así comprobamos que el data run apuntaba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recuadro de la captura del registro 70 con su fila y sus columnas. Uno: FILE. Dos: el 0x46, que es 70, el número del registro. Tres: las cuatro fechas, filas 00015850 y 00015860. Cuatro: 0x44, que es 68, la carpeta padre, 2026. Cinco: 0x10, que son 16 letras. Seis: el nombre Informe_Lab.docx, con dos bytes por letra. Siete: 0x9000, que son 36 864 bytes asignados. Ocho: 0x8FE9, que son 36 841 bytes reales. Nueve: el data run 21 09 00 34 00: nueve clusters desde el cluster 13 312, que es el sector 106 496.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Abrimos el sector 106 496, que es donde apuntaba el data run. Recuadro 1: PK 03 04, la firma de un ZIP. Un docx es un ZIP, así que confirmamos que la dirección era correcta. Recuadro 2: método 8, compresión. Recuadro 3: 0x13, 19 letras. Recuadro 4: el nombre del primer archivo interno, Content_Types.xml, que Word siempre pone en un 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estar seguros de que los bytes eran el archivo real, montamos la imagen en Debian con ntfs-3g en solo lectura (ro), para no modificarla. Al leer secreto.txt sale el mismo texto que vimos en HxD y el tamaño es 102 bytes. Además la herramienta ntfsinfo leyó el mismo registro 79 y dio los mismos valores: primer atributo en 0x38, 480 bytes usados y datos residentes de 102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Trabajamos sobre una copia del disco. Arriba: con rm borramos Informe_Lab.docx; la carpeta ya solo muestra Resumen.txt. Abajo: ntfsundelete lista los registros que ya no están en uso. El registro 70 aparece con 100 por ciento recuperable y 36 841 bytes, que es justo el tamaño real que vimos en la captura anterior. Es decir, los datos siguen en el disco.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Mismo registro 70, mismo sector 172, antes y después de borrar. Solo cambian cuatro campos de la cabecera. Recuadro 1, número de secuencia: de 1 a 2, para invalidar referencias viejas. Recuadro 2, contador de enlaces: de 1 a 0, porque ya ninguna carpeta apunta al archivo. Recuadro 3, banderas: de 01 a 00, o sea ya no está en uso. Recuadros 4 y 5, el número de actualización USN: de 0x15 a 0x16, en dos lugares a la vez (casilla 0x30 y las dos últimas casillas del sector). No cambian el nombre, los tamaños, el data run ni los datos: por eso el archivo se puede recuperar.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cinco cambios con su fila y columnas. Los tres primeros están en la misma fila, 00015810: la secuencia en las columnas 00 y 01, los enlaces en 02 y 03, y las banderas en 06 y 07. El USN está en dos lugares: la fila 00015830, columnas 00 y 01, y el final del sector, la fila 000159F0, columnas 0E y 0F. Todo lo demás es igual: nombre, tamaños, data run y datos. Por eso se puede recuperar.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Cuatro ideas para llevarse. Uno: el Boot Sector es el mapa del disco. Dos: cada archivo es una tarjeta en la MFT y se encuentra con 32 + 2 por n. Tres: los archivos pequeños viven dentro de su tarjeta y los grandes tienen un data run que apunta a sus clusters. Cuatro: borrar solo marca la tarjeta como libre, por eso se puede recuperar.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Declaramos el uso de IA como nivel 4 de la escala AIAS: la IA completó algunos elementos y nosotros evaluamos críticamente el resultado. A la izquierda lo que hizo la IA; a la derecha lo que hicimos nosotros: leer las fuentes, calcular, revisar todo en HxD, ejecutar los comandos y corregir cada captura. Lo importante: el aprendizaje se logró de forma exitosa porque el análisis lo hicimos nosotros.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Solo mencionarlas: estas son las fuentes que sustentan las estructuras y procedimientos del laboratorio. Están completas en 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Gracias. Quedamos atentos a las preguntas. Las fuentes principales (Carrier, 2005; Russon y Fledel; Microsoft Learn) están completas en las referencias del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8.sv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8.sv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9.png"/><Relationship Id="rId4" Type="http://schemas.openxmlformats.org/officeDocument/2006/relationships/image" Target="../media/image8.sv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65300" y="-84714"/>
            <a:ext cx="10371714" cy="1037171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778174" y="898757"/>
            <a:ext cx="6372983" cy="8896297"/>
          </a:xfrm>
          <a:custGeom>
            <a:avLst/>
            <a:gdLst/>
            <a:ahLst/>
            <a:cxnLst/>
            <a:rect l="l" t="t" r="r" b="b"/>
            <a:pathLst>
              <a:path w="6372983" h="8896297">
                <a:moveTo>
                  <a:pt x="0" y="0"/>
                </a:moveTo>
                <a:lnTo>
                  <a:pt x="6372983" y="0"/>
                </a:lnTo>
                <a:lnTo>
                  <a:pt x="6372983" y="8896297"/>
                </a:lnTo>
                <a:lnTo>
                  <a:pt x="0" y="8896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10407285">
            <a:off x="-5710435" y="-188170"/>
            <a:ext cx="10371714" cy="1037171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66236" y="2346444"/>
            <a:ext cx="507275" cy="507275"/>
          </a:xfrm>
          <a:custGeom>
            <a:avLst/>
            <a:gdLst/>
            <a:ahLst/>
            <a:cxnLst/>
            <a:rect l="l" t="t" r="r" b="b"/>
            <a:pathLst>
              <a:path w="507275" h="507275">
                <a:moveTo>
                  <a:pt x="0" y="0"/>
                </a:moveTo>
                <a:lnTo>
                  <a:pt x="507275" y="0"/>
                </a:lnTo>
                <a:lnTo>
                  <a:pt x="507275" y="507275"/>
                </a:lnTo>
                <a:lnTo>
                  <a:pt x="0" y="507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55684" y="7682399"/>
            <a:ext cx="5529644" cy="563018"/>
          </a:xfrm>
          <a:custGeom>
            <a:avLst/>
            <a:gdLst/>
            <a:ahLst/>
            <a:cxnLst/>
            <a:rect l="l" t="t" r="r" b="b"/>
            <a:pathLst>
              <a:path w="5529644" h="563018">
                <a:moveTo>
                  <a:pt x="0" y="0"/>
                </a:moveTo>
                <a:lnTo>
                  <a:pt x="5529643" y="0"/>
                </a:lnTo>
                <a:lnTo>
                  <a:pt x="5529643" y="563018"/>
                </a:lnTo>
                <a:lnTo>
                  <a:pt x="0" y="563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940833" y="4782676"/>
            <a:ext cx="636934" cy="636934"/>
          </a:xfrm>
          <a:custGeom>
            <a:avLst/>
            <a:gdLst/>
            <a:ahLst/>
            <a:cxnLst/>
            <a:rect l="l" t="t" r="r" b="b"/>
            <a:pathLst>
              <a:path w="636934" h="636934">
                <a:moveTo>
                  <a:pt x="0" y="0"/>
                </a:moveTo>
                <a:lnTo>
                  <a:pt x="636934" y="0"/>
                </a:lnTo>
                <a:lnTo>
                  <a:pt x="636934" y="636934"/>
                </a:lnTo>
                <a:lnTo>
                  <a:pt x="0" y="6369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66236" y="3532315"/>
            <a:ext cx="7690481" cy="175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  <a:spcBef>
                <a:spcPct val="0"/>
              </a:spcBef>
            </a:pPr>
            <a:r>
              <a:rPr lang="en-US" sz="8600" spc="-47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ESTRUCTURA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6236" y="4807187"/>
            <a:ext cx="7690481" cy="175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  <a:spcBef>
                <a:spcPct val="0"/>
              </a:spcBef>
            </a:pPr>
            <a:r>
              <a:rPr lang="en-US" sz="8600" b="1" spc="-47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NTFS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65835" y="2360254"/>
            <a:ext cx="8000000" cy="43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1"/>
              </a:lnSpc>
              <a:spcBef>
                <a:spcPct val="0"/>
              </a:spcBef>
            </a:pPr>
            <a:r>
              <a:rPr lang="en-US" sz="2536" spc="-116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65835" y="7767205"/>
            <a:ext cx="4132080" cy="35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1"/>
              </a:lnSpc>
              <a:spcBef>
                <a:spcPct val="0"/>
              </a:spcBef>
            </a:pPr>
            <a:r>
              <a:rPr lang="en-US" sz="2136" b="1" spc="-98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</a:t>
            </a:r>
          </a:p>
        </p:txBody>
      </p:sp>
      <p:sp>
        <p:nvSpPr>
          <p:cNvPr id="16" name="Autores"/>
          <p:cNvSpPr txBox="1"/>
          <p:nvPr/>
        </p:nvSpPr>
        <p:spPr>
          <a:xfrm>
            <a:off x="1766236" y="6560000"/>
            <a:ext cx="80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Exploración de Discos y NTFS</a:t>
            </a:r>
          </a:p>
          <a:p>
            <a:pPr algn="l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Juan Camilo Bernal Carmona</a:t>
            </a:r>
          </a:p>
          <a:p>
            <a:pPr algn="l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Tomás Marín Estrada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002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 HISTORIA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EN 5 PASOS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Del mapa del disco a los bytes de un archivo: cada paso entrega un número al siguiente</a:t>
            </a:r>
          </a:p>
        </p:txBody>
      </p:sp>
      <p:sp>
        <p:nvSpPr>
          <p:cNvPr id="13" name="Paso 1"/>
          <p:cNvSpPr/>
          <p:nvPr/>
        </p:nvSpPr>
        <p:spPr>
          <a:xfrm>
            <a:off x="1727020" y="3300000"/>
            <a:ext cx="2600000" cy="20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8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  Boot Sector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El mapa del disco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67020" y="4200000"/>
            <a:ext cx="378490" cy="3000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Valor 1"/>
          <p:cNvSpPr/>
          <p:nvPr/>
        </p:nvSpPr>
        <p:spPr>
          <a:xfrm>
            <a:off x="1727020" y="5650000"/>
            <a:ext cx="2600000" cy="1100000"/>
          </a:xfrm>
          <a:prstGeom prst="roundRect">
            <a:avLst>
              <a:gd name="adj" fmla="val 20000"/>
            </a:avLst>
          </a:prstGeom>
          <a:solidFill>
            <a:srgbClr val="EBF5FE"/>
          </a:soli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000" b="1">
                <a:solidFill>
                  <a:srgbClr val="0B1B52"/>
                </a:solidFill>
                <a:latin typeface="Garet Bold"/>
                <a:ea typeface="Garet Bold"/>
                <a:cs typeface="Garet Bold"/>
                <a:sym typeface="Garet Bold"/>
              </a:rPr>
              <a:t>512 × 8 = 4096 B</a:t>
            </a:r>
          </a:p>
        </p:txBody>
      </p:sp>
      <p:sp>
        <p:nvSpPr>
          <p:cNvPr id="16" name="Paso 2"/>
          <p:cNvSpPr/>
          <p:nvPr/>
        </p:nvSpPr>
        <p:spPr>
          <a:xfrm>
            <a:off x="4785510" y="3300000"/>
            <a:ext cx="2600000" cy="20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8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2  MFT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El fichero de tarjetas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25510" y="4200000"/>
            <a:ext cx="378490" cy="3000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Valor 2"/>
          <p:cNvSpPr/>
          <p:nvPr/>
        </p:nvSpPr>
        <p:spPr>
          <a:xfrm>
            <a:off x="4785510" y="5650000"/>
            <a:ext cx="2600000" cy="1100000"/>
          </a:xfrm>
          <a:prstGeom prst="roundRect">
            <a:avLst>
              <a:gd name="adj" fmla="val 20000"/>
            </a:avLst>
          </a:prstGeom>
          <a:solidFill>
            <a:srgbClr val="EBF5FE"/>
          </a:soli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000" b="1">
                <a:solidFill>
                  <a:srgbClr val="0B1B52"/>
                </a:solidFill>
                <a:latin typeface="Garet Bold"/>
                <a:ea typeface="Garet Bold"/>
                <a:cs typeface="Garet Bold"/>
                <a:sym typeface="Garet Bold"/>
              </a:rPr>
              <a:t>Empieza en el sector 32</a:t>
            </a:r>
          </a:p>
        </p:txBody>
      </p:sp>
      <p:sp>
        <p:nvSpPr>
          <p:cNvPr id="19" name="Paso 3"/>
          <p:cNvSpPr/>
          <p:nvPr/>
        </p:nvSpPr>
        <p:spPr>
          <a:xfrm>
            <a:off x="7844000" y="3300000"/>
            <a:ext cx="2600000" cy="20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8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3  Registro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 tarjeta del archivo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484000" y="4200000"/>
            <a:ext cx="378490" cy="3000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Valor 3"/>
          <p:cNvSpPr/>
          <p:nvPr/>
        </p:nvSpPr>
        <p:spPr>
          <a:xfrm>
            <a:off x="7844000" y="5650000"/>
            <a:ext cx="2600000" cy="1100000"/>
          </a:xfrm>
          <a:prstGeom prst="roundRect">
            <a:avLst>
              <a:gd name="adj" fmla="val 20000"/>
            </a:avLst>
          </a:prstGeom>
          <a:solidFill>
            <a:srgbClr val="EBF5FE"/>
          </a:soli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000" b="1">
                <a:solidFill>
                  <a:srgbClr val="0B1B52"/>
                </a:solidFill>
                <a:latin typeface="Garet Bold"/>
                <a:ea typeface="Garet Bold"/>
                <a:cs typeface="Garet Bold"/>
                <a:sym typeface="Garet Bold"/>
              </a:rPr>
              <a:t>Archivo 79 → sector 190</a:t>
            </a:r>
          </a:p>
        </p:txBody>
      </p:sp>
      <p:sp>
        <p:nvSpPr>
          <p:cNvPr id="22" name="Paso 4"/>
          <p:cNvSpPr/>
          <p:nvPr/>
        </p:nvSpPr>
        <p:spPr>
          <a:xfrm>
            <a:off x="10902490" y="3300000"/>
            <a:ext cx="2600000" cy="20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8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4  Atributos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Los campos de la tarjeta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3542490" y="4200000"/>
            <a:ext cx="378490" cy="3000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Valor 4"/>
          <p:cNvSpPr/>
          <p:nvPr/>
        </p:nvSpPr>
        <p:spPr>
          <a:xfrm>
            <a:off x="10902490" y="5650000"/>
            <a:ext cx="2600000" cy="1100000"/>
          </a:xfrm>
          <a:prstGeom prst="roundRect">
            <a:avLst>
              <a:gd name="adj" fmla="val 20000"/>
            </a:avLst>
          </a:prstGeom>
          <a:solidFill>
            <a:srgbClr val="EBF5FE"/>
          </a:soli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000" b="1">
                <a:solidFill>
                  <a:srgbClr val="0B1B52"/>
                </a:solidFill>
                <a:latin typeface="Garet Bold"/>
                <a:ea typeface="Garet Bold"/>
                <a:cs typeface="Garet Bold"/>
                <a:sym typeface="Garet Bold"/>
              </a:rPr>
              <a:t>Nombre, fechas, datos</a:t>
            </a:r>
          </a:p>
        </p:txBody>
      </p:sp>
      <p:sp>
        <p:nvSpPr>
          <p:cNvPr id="25" name="Paso 5"/>
          <p:cNvSpPr/>
          <p:nvPr/>
        </p:nvSpPr>
        <p:spPr>
          <a:xfrm>
            <a:off x="13960980" y="3300000"/>
            <a:ext cx="2600000" cy="20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8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5  Datos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El contenido</a:t>
            </a:r>
          </a:p>
        </p:txBody>
      </p:sp>
      <p:sp>
        <p:nvSpPr>
          <p:cNvPr id="26" name="Valor 5"/>
          <p:cNvSpPr/>
          <p:nvPr/>
        </p:nvSpPr>
        <p:spPr>
          <a:xfrm>
            <a:off x="13960980" y="5650000"/>
            <a:ext cx="2600000" cy="1100000"/>
          </a:xfrm>
          <a:prstGeom prst="roundRect">
            <a:avLst>
              <a:gd name="adj" fmla="val 20000"/>
            </a:avLst>
          </a:prstGeom>
          <a:solidFill>
            <a:srgbClr val="EBF5FE"/>
          </a:soli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000" b="1">
                <a:solidFill>
                  <a:srgbClr val="0B1B52"/>
                </a:solidFill>
                <a:latin typeface="Garet Bold"/>
                <a:ea typeface="Garet Bold"/>
                <a:cs typeface="Garet Bold"/>
                <a:sym typeface="Garet Bold"/>
              </a:rPr>
              <a:t>102 bytes en el registro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7020" y="7150000"/>
            <a:ext cx="1483396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Archivo pequeño: sus datos están en la tarjeta. Archivo grande: la tarjeta dice dónde están.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27020" y="8000000"/>
            <a:ext cx="1483396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20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Herramientas: HxD · Debian · ntfs-3g · ntfsinfo · ntfsundelete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003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FAT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VS NTFS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En NTFS todo es un archivo: cada archivo y carpeta tiene su registro en la MFT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27020" y="3080000"/>
          <a:ext cx="14834000" cy="5668400"/>
        </p:xfrm>
        <a:graphic>
          <a:graphicData uri="http://schemas.openxmlformats.org/drawingml/2006/table">
            <a:tbl>
              <a:tblPr firstRow="1"/>
              <a:tblGrid>
                <a:gridCol w="3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000">
                <a:tc>
                  <a:txBody>
                    <a:bodyPr/>
                    <a:lstStyle/>
                    <a:p>
                      <a:pPr algn="ctr"/>
                      <a:r>
                        <a:rPr lang="es-CO" sz="22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Característica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2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FAT16 / FAT32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2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NTFS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Tabla de control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FAT: una tabla que encadena clusters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MFT: un registro de 1024 bytes por archivo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Directorio raíz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Área fija (FAT16) o cadena de clusters (FAT32)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Registro 5 de la MFT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Dónde están los datos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Cluster inicial + cadena en la FAT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Data runs en el atributo $DATA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Archivos pequeños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Siempre usan clusters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Pueden quedar dentro del registro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Nombres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Formato 8.3 o nombres largos con trucos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UTF-16, hasta 255 caracteres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Tamaño de un archivo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Máximo 4 GB (campo de 32 bits)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Hasta 16 EB (límite teórico)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Seguridad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Sin permisos por archivo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Permisos (ACL) y cifrado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Journaling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Sí: registra los cambios para recuperarse de fallos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004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CÓMO SE ENCUENTRA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UN ARCHIVO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Mismo objetivo, dos caminos distintos</a:t>
            </a:r>
          </a:p>
        </p:txBody>
      </p:sp>
      <p:sp>
        <p:nvSpPr>
          <p:cNvPr id="13" name="Cab FAT"/>
          <p:cNvSpPr/>
          <p:nvPr/>
        </p:nvSpPr>
        <p:spPr>
          <a:xfrm>
            <a:off x="1727020" y="3080000"/>
            <a:ext cx="7216980" cy="700000"/>
          </a:xfrm>
          <a:prstGeom prst="roundRect">
            <a:avLst>
              <a:gd name="adj" fmla="val 50000"/>
            </a:avLst>
          </a:prstGeom>
          <a:solidFill>
            <a:srgbClr val="EBF5FE"/>
          </a:soli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000" b="1">
                <a:solidFill>
                  <a:srgbClr val="0B1B52"/>
                </a:solidFill>
                <a:latin typeface="Garet Bold"/>
                <a:ea typeface="Garet Bold"/>
                <a:cs typeface="Garet Bold"/>
                <a:sym typeface="Garet Bold"/>
              </a:rPr>
              <a:t>FAT</a:t>
            </a:r>
          </a:p>
        </p:txBody>
      </p:sp>
      <p:sp>
        <p:nvSpPr>
          <p:cNvPr id="14" name="FAT 1"/>
          <p:cNvSpPr/>
          <p:nvPr/>
        </p:nvSpPr>
        <p:spPr>
          <a:xfrm>
            <a:off x="1727020" y="3900000"/>
            <a:ext cx="7216980" cy="1200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1. Directorio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Guarda el nombre y el cluster inicial</a:t>
            </a:r>
          </a:p>
        </p:txBody>
      </p:sp>
      <p:sp>
        <p:nvSpPr>
          <p:cNvPr id="15" name="FAT 2"/>
          <p:cNvSpPr/>
          <p:nvPr/>
        </p:nvSpPr>
        <p:spPr>
          <a:xfrm>
            <a:off x="1727020" y="5230000"/>
            <a:ext cx="7216980" cy="1200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2. Tabla FAT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Cada entrada dice cuál es el cluster siguiente</a:t>
            </a:r>
          </a:p>
        </p:txBody>
      </p:sp>
      <p:sp>
        <p:nvSpPr>
          <p:cNvPr id="16" name="FAT 3"/>
          <p:cNvSpPr/>
          <p:nvPr/>
        </p:nvSpPr>
        <p:spPr>
          <a:xfrm>
            <a:off x="1727020" y="6560000"/>
            <a:ext cx="7216980" cy="1200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3. Cadena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Se sigue cluster por cluster hasta la marca de fin</a:t>
            </a:r>
          </a:p>
        </p:txBody>
      </p:sp>
      <p:sp>
        <p:nvSpPr>
          <p:cNvPr id="17" name="Cab NTFS"/>
          <p:cNvSpPr/>
          <p:nvPr/>
        </p:nvSpPr>
        <p:spPr>
          <a:xfrm>
            <a:off x="9344000" y="3080000"/>
            <a:ext cx="7216980" cy="700000"/>
          </a:xfrm>
          <a:prstGeom prst="roundRect">
            <a:avLst>
              <a:gd name="adj" fmla="val 50000"/>
            </a:avLst>
          </a:prstGeom>
          <a:solidFill>
            <a:srgbClr val="EBF5FE"/>
          </a:soli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000" b="1">
                <a:solidFill>
                  <a:srgbClr val="0B1B52"/>
                </a:solidFill>
                <a:latin typeface="Garet Bold"/>
                <a:ea typeface="Garet Bold"/>
                <a:cs typeface="Garet Bold"/>
                <a:sym typeface="Garet Bold"/>
              </a:rPr>
              <a:t>NTFS</a:t>
            </a:r>
          </a:p>
        </p:txBody>
      </p:sp>
      <p:sp>
        <p:nvSpPr>
          <p:cNvPr id="18" name="NTFS 1"/>
          <p:cNvSpPr/>
          <p:nvPr/>
        </p:nvSpPr>
        <p:spPr>
          <a:xfrm>
            <a:off x="9344000" y="3900000"/>
            <a:ext cx="7216980" cy="1200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1. Índice de la carpeta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Nombre → número de registro (ej. secreto.txt = 79)</a:t>
            </a:r>
          </a:p>
        </p:txBody>
      </p:sp>
      <p:sp>
        <p:nvSpPr>
          <p:cNvPr id="19" name="NTFS 2"/>
          <p:cNvSpPr/>
          <p:nvPr/>
        </p:nvSpPr>
        <p:spPr>
          <a:xfrm>
            <a:off x="9344000" y="5230000"/>
            <a:ext cx="7216980" cy="1200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2. Registro en la MFT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Sector 32 + 2 × n (ej. sector 190)</a:t>
            </a:r>
          </a:p>
        </p:txBody>
      </p:sp>
      <p:sp>
        <p:nvSpPr>
          <p:cNvPr id="20" name="NTFS 3"/>
          <p:cNvSpPr/>
          <p:nvPr/>
        </p:nvSpPr>
        <p:spPr>
          <a:xfrm>
            <a:off x="9344000" y="6560000"/>
            <a:ext cx="7216980" cy="1200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3. Atributo $DATA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Contenido dentro (residente) o data run con la dirección</a:t>
            </a:r>
          </a:p>
        </p:txBody>
      </p:sp>
      <p:sp>
        <p:nvSpPr>
          <p:cNvPr id="21" name="Cierre"/>
          <p:cNvSpPr/>
          <p:nvPr/>
        </p:nvSpPr>
        <p:spPr>
          <a:xfrm>
            <a:off x="1727020" y="7930000"/>
            <a:ext cx="14833960" cy="56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En FAT se recorre una cadena; en NTFS una dirección indica el tramo completo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005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BOOT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SECTOR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Sector 0: el mapa del disco. Cada recuadro es un dato que vamos a necesitar</a:t>
            </a:r>
          </a:p>
        </p:txBody>
      </p:sp>
      <p:pic>
        <p:nvPicPr>
          <p:cNvPr id="13" name="Picture 12" descr="b_fig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020" y="3060000"/>
            <a:ext cx="7448846" cy="535000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4" name="Dato 1"/>
          <p:cNvSpPr/>
          <p:nvPr/>
        </p:nvSpPr>
        <p:spPr>
          <a:xfrm>
            <a:off x="9475866" y="3060000"/>
            <a:ext cx="7085114" cy="12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512 bytes</a:t>
            </a:r>
          </a:p>
          <a:p>
            <a:pPr algn="ctr"/>
            <a:r>
              <a:rPr lang="es-CO" sz="19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Recuadro 1: bytes por sector</a:t>
            </a:r>
          </a:p>
        </p:txBody>
      </p:sp>
      <p:sp>
        <p:nvSpPr>
          <p:cNvPr id="15" name="Dato 2"/>
          <p:cNvSpPr/>
          <p:nvPr/>
        </p:nvSpPr>
        <p:spPr>
          <a:xfrm>
            <a:off x="9475866" y="4410000"/>
            <a:ext cx="7085114" cy="12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8 sectores</a:t>
            </a:r>
          </a:p>
          <a:p>
            <a:pPr algn="ctr"/>
            <a:r>
              <a:rPr lang="es-CO" sz="19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Recuadro 2: sectores por cluster</a:t>
            </a:r>
          </a:p>
        </p:txBody>
      </p:sp>
      <p:sp>
        <p:nvSpPr>
          <p:cNvPr id="16" name="Dato 3"/>
          <p:cNvSpPr/>
          <p:nvPr/>
        </p:nvSpPr>
        <p:spPr>
          <a:xfrm>
            <a:off x="9475866" y="5760000"/>
            <a:ext cx="7085114" cy="12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Cluster 4</a:t>
            </a:r>
          </a:p>
          <a:p>
            <a:pPr algn="ctr"/>
            <a:r>
              <a:rPr lang="es-CO" sz="19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Recuadro 4: donde empieza la MFT</a:t>
            </a:r>
          </a:p>
        </p:txBody>
      </p:sp>
      <p:sp>
        <p:nvSpPr>
          <p:cNvPr id="17" name="Dato 4"/>
          <p:cNvSpPr/>
          <p:nvPr/>
        </p:nvSpPr>
        <p:spPr>
          <a:xfrm>
            <a:off x="9475866" y="7110000"/>
            <a:ext cx="7085114" cy="12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1024 bytes</a:t>
            </a:r>
          </a:p>
          <a:p>
            <a:pPr algn="ctr"/>
            <a:r>
              <a:rPr lang="es-CO" sz="19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Recuadro 6: tamaño del registro (F6 = −10)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006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CÓMO LEER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EL BOOT SECTOR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Casilla = fila + columna. Ejemplo: fila 00000000 + columna 0B = casilla 0x0B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27020" y="3080000"/>
          <a:ext cx="14834000" cy="5190080"/>
        </p:xfrm>
        <a:graphic>
          <a:graphicData uri="http://schemas.openxmlformats.org/drawingml/2006/table">
            <a:tbl>
              <a:tblPr firstRow="1"/>
              <a:tblGrid>
                <a:gridCol w="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N°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Fila · columnas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Qué significa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00000000 · 0B–0C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00 02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Al revés: 0x0200 = 512 bytes por sector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00000000 · 0D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 sectores por cluster: 512 × 8 = 4096 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00000020 · 08–0F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FF 1F 03 00…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0x31FFF = 204 799 sectores en total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00000030 · 00–07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 00 00 00…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 MFT empieza en el cluster 4 (sector 32)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00000030 · 08–0F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FF 31 00 00…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0x31FF = 12 799: cluster de la copia de la MFT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00000040 ·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F6 = −10, que significa 2 elevado a 10 = 1024 bytes por registro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000001F0 · 0E–0F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 AA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Sello que cierra el Boot Sector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007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LAS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FÓRMULAS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Con ellas se calcula dónde está cualquier registro</a:t>
            </a:r>
          </a:p>
        </p:txBody>
      </p:sp>
      <p:sp>
        <p:nvSpPr>
          <p:cNvPr id="13" name="Formula 1"/>
          <p:cNvSpPr/>
          <p:nvPr/>
        </p:nvSpPr>
        <p:spPr>
          <a:xfrm>
            <a:off x="1727020" y="3150000"/>
            <a:ext cx="7216980" cy="24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Un cluster mide</a:t>
            </a:r>
          </a:p>
          <a:p>
            <a:pPr algn="ctr"/>
            <a:r>
              <a:rPr lang="es-CO" sz="3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512 B × 8 sectores = 4096 B</a:t>
            </a:r>
          </a:p>
        </p:txBody>
      </p:sp>
      <p:sp>
        <p:nvSpPr>
          <p:cNvPr id="14" name="Formula 2"/>
          <p:cNvSpPr/>
          <p:nvPr/>
        </p:nvSpPr>
        <p:spPr>
          <a:xfrm>
            <a:off x="9344000" y="3150000"/>
            <a:ext cx="7216980" cy="24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La MFT empieza en el cluster 4</a:t>
            </a:r>
          </a:p>
          <a:p>
            <a:pPr algn="ctr"/>
            <a:r>
              <a:rPr lang="es-CO" sz="3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4 × 8 = sector 32</a:t>
            </a:r>
          </a:p>
        </p:txBody>
      </p:sp>
      <p:sp>
        <p:nvSpPr>
          <p:cNvPr id="15" name="Formula 3"/>
          <p:cNvSpPr/>
          <p:nvPr/>
        </p:nvSpPr>
        <p:spPr>
          <a:xfrm>
            <a:off x="1727020" y="5850000"/>
            <a:ext cx="7216980" cy="24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El registro n está en el</a:t>
            </a:r>
          </a:p>
          <a:p>
            <a:pPr algn="ctr"/>
            <a:r>
              <a:rPr lang="es-CO" sz="3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sector 32 + 2 × n</a:t>
            </a:r>
          </a:p>
        </p:txBody>
      </p:sp>
      <p:sp>
        <p:nvSpPr>
          <p:cNvPr id="16" name="Formula 4"/>
          <p:cNvSpPr/>
          <p:nvPr/>
        </p:nvSpPr>
        <p:spPr>
          <a:xfrm>
            <a:off x="9344000" y="5850000"/>
            <a:ext cx="7216980" cy="24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secreto.txt es el registro 79</a:t>
            </a:r>
          </a:p>
          <a:p>
            <a:pPr algn="ctr"/>
            <a:r>
              <a:rPr lang="es-CO" sz="3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32 + 2 × 79 = sector 190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008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REGISTRO 5: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LA RAÍZ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La raíz es el registro 5; sus nombres están en un bloque aparte (INDX)</a:t>
            </a:r>
          </a:p>
        </p:txBody>
      </p:sp>
      <p:pic>
        <p:nvPicPr>
          <p:cNvPr id="13" name="Picture 12" descr="b_fig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0510" y="3030000"/>
            <a:ext cx="6300000" cy="4427213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pic>
        <p:nvPicPr>
          <p:cNvPr id="14" name="Picture 13" descr="b_fig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7490" y="3030000"/>
            <a:ext cx="6300000" cy="434000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1727020" y="7587213"/>
            <a:ext cx="7266980" cy="9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Registro 5 · sector 42</a:t>
            </a:r>
          </a:p>
          <a:p>
            <a:pPr algn="ctr"/>
            <a:r>
              <a:rPr lang="es-CO" sz="17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Recuadro 5: 21 01 85 0C 00 → cluster 3205 → sector 25 640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4000" y="7587213"/>
            <a:ext cx="7266980" cy="95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Bloque INDX · sector 25 640</a:t>
            </a:r>
          </a:p>
          <a:p>
            <a:pPr algn="ctr"/>
            <a:r>
              <a:rPr lang="es-CO" sz="17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Recuadros 1 a 4: número de registro de cada nombre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009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CÓMO LEER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REGISTRO 5 E INDX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Izquierda: la tarjeta de la raíz (empieza en 0x5400). Derecha: el bloque de nombres (sector 25 643)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27020" y="3080000"/>
          <a:ext cx="14834000" cy="5358160"/>
        </p:xfrm>
        <a:graphic>
          <a:graphicData uri="http://schemas.openxmlformats.org/drawingml/2006/table">
            <a:tbl>
              <a:tblPr firstRow="1"/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000"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N°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Fila · columnas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Qué significa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Izq. 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00005400 · 00–03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46 49 4C 45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FILE: el sello de toda tarjeta de la MFT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Izq. 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00005410 · 06–07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 + 2: en uso + es carpeta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Izq. 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00005520 · 08–0B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90 00 00 00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$INDEX_ROOT: aquí empieza la lista de nombres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Izq. 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00005580 · 00–03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A0 00 00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$INDEX_ALLOCATION: el resto de la lista, fuera de la tarjeta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Izq. 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000055C0 · 08–0C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 01 85 0C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 cluster en 0x0C85 = 3205, o sea sector 25 640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Der. 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00C85600 · 08–0F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40 00 00 00 00 00 01 00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LEEME.txt = registro 0x40 = 64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Der. 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00C85670 · 00–07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5F 00 00 00 00 00 01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Muchos_Archivos = registro 0x5F = 95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Der. 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00C856E0 · 00–07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57 00 00 00 00 00 01 00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PDF = registro 0x57 = 87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Der. 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00C85730 · 08–0F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4A 00 00 00 00 00 01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Proyectos = registro 0x4A = 74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010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EL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CAMINO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Cada nombre se busca en el índice de su carpeta y da el número del siguiente registro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27020" y="3100000"/>
          <a:ext cx="14834000" cy="5120000"/>
        </p:xfrm>
        <a:graphic>
          <a:graphicData uri="http://schemas.openxmlformats.org/drawingml/2006/table">
            <a:tbl>
              <a:tblPr firstRow="1"/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s-CO" sz="2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Carpeta o archivo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Registro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Cuenta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Sector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Raíz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 + 2 × 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Proyectos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 + 2 × 74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180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Universidad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 + 2 × 75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182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Semestre_6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 + 2 × 76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184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Arquitectura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 + 2 × 77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186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Laboratorio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78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 + 2 × 78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188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secreto.txt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79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 + 2 × 79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6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190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011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REGISTRO 79: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secreto.txt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Sector 190: la tarjeta de nuestro archivo, con sus 102 bytes adentro</a:t>
            </a:r>
          </a:p>
        </p:txBody>
      </p:sp>
      <p:pic>
        <p:nvPicPr>
          <p:cNvPr id="13" name="Picture 12" descr="b_new7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020" y="3030000"/>
            <a:ext cx="6500000" cy="4231132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1727020" y="7371132"/>
            <a:ext cx="6500000" cy="56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0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Casilla = fila + columna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477020" y="3030000"/>
          <a:ext cx="8083960" cy="4000000"/>
        </p:xfrm>
        <a:graphic>
          <a:graphicData uri="http://schemas.openxmlformats.org/drawingml/2006/table">
            <a:tbl>
              <a:tblPr firstRow="1"/>
              <a:tblGrid>
                <a:gridCol w="9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000">
                <a:tc>
                  <a:txBody>
                    <a:bodyPr/>
                    <a:lstStyle/>
                    <a:p>
                      <a:pPr algn="ctr"/>
                      <a:r>
                        <a:rPr lang="es-CO" sz="1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N°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Fila · columnas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Qué significa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00017C30 · 08–0B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10 00 00 00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Aquí empiezan los atributos (casilla 0x38)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00017DD0 · 08–0B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FF FF FF FF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Aquí terminan: ya no hay más atributos (casilla 0x1D8)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Texto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00017D70 · 00 en adelante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FELICITACIONES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El contenido: 102 bytes dentro de la tarjeta (casilla 0x170). Por eso es residente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012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DATOS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NO RESIDENTES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Informe_Lab.docx: su tarjeta solo dice en qué cluster están los datos</a:t>
            </a:r>
          </a:p>
        </p:txBody>
      </p:sp>
      <p:pic>
        <p:nvPicPr>
          <p:cNvPr id="13" name="Picture 12" descr="b_f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020" y="3030000"/>
            <a:ext cx="7200000" cy="5449723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pic>
        <p:nvPicPr>
          <p:cNvPr id="14" name="Picture 13" descr="b_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7020" y="3030000"/>
            <a:ext cx="7333960" cy="2512185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9227020" y="5722185"/>
            <a:ext cx="7333960" cy="13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Recuadro 9: 21 09 00 34 00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9 clusters desde el cluster 13 312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7020" y="7172185"/>
            <a:ext cx="7333960" cy="13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13 312 × 8 = sector 106 496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Ahí aparece PK: es un archivo .docx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013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CÓMO LEER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EL REGISTRO 70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Sector 172: las filas empiezan en 00015800. Casilla = fila + columna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27020" y="3080000"/>
          <a:ext cx="14834000" cy="5358160"/>
        </p:xfrm>
        <a:graphic>
          <a:graphicData uri="http://schemas.openxmlformats.org/drawingml/2006/table">
            <a:tbl>
              <a:tblPr firstRow="1"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000"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N°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Fila · columnas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7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Qué significa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00015800 · 00–03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46 49 4C 45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FILE: inicio de la tarjeta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00015820 · 0C–0F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46 00 00 00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0x46 = 70: el número de este registro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00015850 y 00015860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 fechas de 8 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Creación, modificación, cambio y acceso. HxD: 18:21:43 UTC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00015890 · 08–0F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44 00 00 00…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0x44 = 68: la carpeta padre «2026»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000158D0 · 08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0x10 = 16 letras en el nombre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000158D0 (0A) a 000158F0 (09)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 00 6E 00…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«Informe_Lab.docx»: 2 bytes por letra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00015990 · 00–07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 90 00 00…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0x9000 = 36 864: tamaño asignado (9 clusters)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00015990 · 08–0F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E9 8F 00 00…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0x8FE9 = 36 841: tamaño real (la imagen dice 841)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000159A0 · 08–0C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21 09 00 34 00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 clusters desde 0x3400 = 13 312, o sea sector 106 496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014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CÓMO LEER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LOS DATOS (ZIP)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Sector 106 496: las filas empiezan en 03400000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27020" y="3080000"/>
          <a:ext cx="14834000" cy="4000000"/>
        </p:xfrm>
        <a:graphic>
          <a:graphicData uri="http://schemas.openxmlformats.org/drawingml/2006/table">
            <a:tbl>
              <a:tblPr firstRow="1"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N°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Fila · columnas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Qué significa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03400000 · 00–03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 4B 03 04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«PK»: firma de un archivo ZIP. Un .docx es un ZIP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03400000 · 08–09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Método 8: compresión deflate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03400010 · 0A–0B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0x13 = 19 letras en el nombre interno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03400010 · 0E–0F hasta 03400030 ·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5B 43 6F 6E…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«[Content_Types].xml»: el primer archivo dentro de un .docx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015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COMPROBACIÓN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EN LINUX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Montamos la imagen en solo lectura y leímos secreto.txt</a:t>
            </a:r>
          </a:p>
        </p:txBody>
      </p:sp>
      <p:pic>
        <p:nvPicPr>
          <p:cNvPr id="13" name="Picture 12" descr="linu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4000" y="3100000"/>
            <a:ext cx="13600000" cy="3330116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1727020" y="6730116"/>
            <a:ext cx="4744653" cy="15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Mismo texto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que vimos en HxD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1673" y="6730116"/>
            <a:ext cx="4744653" cy="15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102 bytes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el mismo tamaño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16326" y="6730116"/>
            <a:ext cx="4744653" cy="1500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2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ntfsinfo</a:t>
            </a:r>
          </a:p>
          <a:p>
            <a:pPr algn="ctr"/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confirma: registro 79, 102 bytes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016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BORRAR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UN ARCHIVO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Con rm borramos Informe_Lab.docx en una copia; ntfsundelete aún lo encuentra</a:t>
            </a:r>
          </a:p>
        </p:txBody>
      </p:sp>
      <p:pic>
        <p:nvPicPr>
          <p:cNvPr id="13" name="Picture 12" descr="r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4000" y="3050000"/>
            <a:ext cx="7900000" cy="2186702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pic>
        <p:nvPicPr>
          <p:cNvPr id="14" name="Picture 13" descr="und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4000" y="5416702"/>
            <a:ext cx="11800000" cy="219909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1727020" y="7795792"/>
            <a:ext cx="14833960" cy="70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Resultado: el registro 70 aparece con 100 % recuperable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017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QUÉ CAMBIA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AL BORRAR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Registro 70, mismo sector 172: izquierda el original, derecha después de borrar</a:t>
            </a:r>
          </a:p>
        </p:txBody>
      </p:sp>
      <p:pic>
        <p:nvPicPr>
          <p:cNvPr id="13" name="Picture 12" descr="b_red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0510" y="3030000"/>
            <a:ext cx="6000000" cy="4508287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pic>
        <p:nvPicPr>
          <p:cNvPr id="14" name="Picture 13" descr="b_red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7490" y="3030000"/>
            <a:ext cx="6000000" cy="4508287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1727020" y="7688287"/>
            <a:ext cx="3558490" cy="880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17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1 · Secuencia</a:t>
            </a:r>
          </a:p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01 → 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5510" y="7688287"/>
            <a:ext cx="3558490" cy="880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17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2 · Enlaces</a:t>
            </a:r>
          </a:p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01 → 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000" y="7688287"/>
            <a:ext cx="3558490" cy="880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17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3 · Banderas</a:t>
            </a:r>
          </a:p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01 → 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02490" y="7688287"/>
            <a:ext cx="3558490" cy="880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17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4 y 5 · USN</a:t>
            </a:r>
          </a:p>
          <a:p>
            <a:pPr algn="ctr"/>
            <a:r>
              <a:rPr lang="es-CO" sz="26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15 →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018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CÓMO LEER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LO QUE CAMBIÓ</a:t>
            </a:r>
          </a:p>
        </p:txBody>
      </p:sp>
      <p:sp>
        <p:nvSpPr>
          <p:cNvPr id="12" name="Subtitulo"/>
          <p:cNvSpPr txBox="1"/>
          <p:nvPr/>
        </p:nvSpPr>
        <p:spPr>
          <a:xfrm>
            <a:off x="1727020" y="2330000"/>
            <a:ext cx="1483396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400">
                <a:solidFill>
                  <a:srgbClr val="CFE0FF"/>
                </a:solidFill>
                <a:latin typeface="Garet"/>
                <a:ea typeface="Garet"/>
                <a:cs typeface="Garet"/>
                <a:sym typeface="Garet"/>
              </a:rPr>
              <a:t>Registro 70, sector 172: antes → después de borrar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27020" y="3080000"/>
          <a:ext cx="14834000" cy="4560000"/>
        </p:xfrm>
        <a:graphic>
          <a:graphicData uri="http://schemas.openxmlformats.org/drawingml/2006/table">
            <a:tbl>
              <a:tblPr firstRow="1"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N°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Fila · columnas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Bytes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1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Qué significa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00015810 · 00–01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 00 → 02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Secuencia: de 1 a 2 (invalida referencias viejas)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00015810 · 02–03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 00 → 00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Enlaces: de 1 a 0 (ninguna carpeta lo contiene)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00015810 · 06–07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 00 → 00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Banderas: ya no está en uso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00015830 · 00–01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 00 → 16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USN en la cabecera: sube en 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000159F0 · 0E–0F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 00 → 16 00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1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USN repetido al final del sector: sube en 1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019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CONCLUSIONES</a:t>
            </a:r>
          </a:p>
        </p:txBody>
      </p:sp>
      <p:sp>
        <p:nvSpPr>
          <p:cNvPr id="12" name="Conclusion 1"/>
          <p:cNvSpPr/>
          <p:nvPr/>
        </p:nvSpPr>
        <p:spPr>
          <a:xfrm>
            <a:off x="1727020" y="2650000"/>
            <a:ext cx="14833960" cy="123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l"/>
            <a:r>
              <a:rPr lang="es-CO" sz="30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01.   </a:t>
            </a:r>
            <a:r>
              <a:rPr lang="es-CO" sz="26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El Boot Sector es el mapa: 512 B por sector, 8 sectores por cluster y la MFT en el sector 32.</a:t>
            </a:r>
          </a:p>
        </p:txBody>
      </p:sp>
      <p:sp>
        <p:nvSpPr>
          <p:cNvPr id="13" name="Conclusion 2"/>
          <p:cNvSpPr/>
          <p:nvPr/>
        </p:nvSpPr>
        <p:spPr>
          <a:xfrm>
            <a:off x="1727020" y="4000000"/>
            <a:ext cx="14833960" cy="123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l"/>
            <a:r>
              <a:rPr lang="es-CO" sz="30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02.   </a:t>
            </a:r>
            <a:r>
              <a:rPr lang="es-CO" sz="26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Cada archivo es un registro de la MFT: el registro n está en el sector 32 + 2 × n.</a:t>
            </a:r>
          </a:p>
        </p:txBody>
      </p:sp>
      <p:sp>
        <p:nvSpPr>
          <p:cNvPr id="14" name="Conclusion 3"/>
          <p:cNvSpPr/>
          <p:nvPr/>
        </p:nvSpPr>
        <p:spPr>
          <a:xfrm>
            <a:off x="1727020" y="5350000"/>
            <a:ext cx="14833960" cy="123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l"/>
            <a:r>
              <a:rPr lang="es-CO" sz="30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03.   </a:t>
            </a:r>
            <a:r>
              <a:rPr lang="es-CO" sz="26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Archivo pequeño: datos dentro del registro. Archivo grande: el registro dice en qué clusters están.</a:t>
            </a:r>
          </a:p>
        </p:txBody>
      </p:sp>
      <p:sp>
        <p:nvSpPr>
          <p:cNvPr id="15" name="Conclusion 4"/>
          <p:cNvSpPr/>
          <p:nvPr/>
        </p:nvSpPr>
        <p:spPr>
          <a:xfrm>
            <a:off x="1727020" y="6700000"/>
            <a:ext cx="14833960" cy="123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l"/>
            <a:r>
              <a:rPr lang="es-CO" sz="30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04.   </a:t>
            </a:r>
            <a:r>
              <a:rPr lang="es-CO" sz="26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Borrar solo marca el registro como libre: los datos siguen en el disco y se pueden recuperar.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020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USO DE </a:t>
            </a:r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INTELIGENCIA ARTIFICIAL</a:t>
            </a:r>
          </a:p>
        </p:txBody>
      </p:sp>
      <p:sp>
        <p:nvSpPr>
          <p:cNvPr id="12" name="Nivel"/>
          <p:cNvSpPr/>
          <p:nvPr/>
        </p:nvSpPr>
        <p:spPr>
          <a:xfrm>
            <a:off x="1727020" y="2650000"/>
            <a:ext cx="14833960" cy="80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FCDFF">
                  <a:alpha val="0"/>
                </a:srgbClr>
              </a:gs>
              <a:gs pos="100000">
                <a:srgbClr val="3964CD">
                  <a:alpha val="100000"/>
                </a:srgbClr>
              </a:gs>
            </a:gsLst>
            <a:lin ang="0"/>
          </a:gradFill>
          <a:ln w="38100">
            <a:solidFill>
              <a:srgbClr val="FFFFFF"/>
            </a:solidFill>
          </a:ln>
        </p:spPr>
        <p:txBody>
          <a:bodyPr wrap="square" lIns="180000" tIns="70000" rIns="180000" bIns="70000" rtlCol="0" anchor="ctr"/>
          <a:lstStyle/>
          <a:p>
            <a:pPr algn="ctr"/>
            <a:r>
              <a:rPr lang="es-CO" sz="30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Nivel 4 (AIAS): AI Task Completion, Human Evaluation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867905"/>
              </p:ext>
            </p:extLst>
          </p:nvPr>
        </p:nvGraphicFramePr>
        <p:xfrm>
          <a:off x="1727020" y="3650000"/>
          <a:ext cx="14833960" cy="4000000"/>
        </p:xfrm>
        <a:graphic>
          <a:graphicData uri="http://schemas.openxmlformats.org/drawingml/2006/table">
            <a:tbl>
              <a:tblPr firstRow="1"/>
              <a:tblGrid>
                <a:gridCol w="741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s-CO" sz="24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Apoyo de la IA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Trabajo de los estudiantes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396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2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Explicó conceptos (MFT, data runs, fixups) y orientó las fuentes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2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Leyeron las fuentes y calcularon los sectores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200" dirty="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Preparó la imagen de práctica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2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Revisaron todo en HxD y asumen el informe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200" dirty="0" err="1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Guió</a:t>
                      </a:r>
                      <a:r>
                        <a:rPr lang="es-CO" sz="2200" dirty="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la preparación de la máquina virtual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20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Ejecutaron los comandos y tomaron las capturas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s-CO" sz="2200" dirty="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Corrigió ubicación de los recuadros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200" dirty="0">
                          <a:solidFill>
                            <a:srgbClr val="0B1B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Corrigieron cada captura y verificaron en Linux</a:t>
                      </a:r>
                    </a:p>
                  </a:txBody>
                  <a:tcPr marL="100000" marR="100000" marT="35000" marB="3500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9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727020" y="8000000"/>
            <a:ext cx="1483396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2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El aprendizaje se logró de forma exitosa: el análisis lo hicimos nosotros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7020" y="963351"/>
            <a:ext cx="352190" cy="352190"/>
          </a:xfrm>
          <a:custGeom>
            <a:avLst/>
            <a:gdLst/>
            <a:ahLst/>
            <a:cxnLst/>
            <a:rect l="l" t="t" r="r" b="b"/>
            <a:pathLst>
              <a:path w="352190" h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2165" y="967905"/>
            <a:ext cx="7000000" cy="30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  <a:spcBef>
                <a:spcPct val="0"/>
              </a:spcBef>
            </a:pPr>
            <a:r>
              <a:rPr lang="en-US" sz="1761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Arquitectura del Computador</a:t>
            </a:r>
          </a:p>
        </p:txBody>
      </p:sp>
      <p:sp>
        <p:nvSpPr>
          <p:cNvPr id="5" name="Freeform 5"/>
          <p:cNvSpPr/>
          <p:nvPr/>
        </p:nvSpPr>
        <p:spPr>
          <a:xfrm>
            <a:off x="6857776" y="8792688"/>
            <a:ext cx="4599258" cy="468288"/>
          </a:xfrm>
          <a:custGeom>
            <a:avLst/>
            <a:gdLst/>
            <a:ahLst/>
            <a:cxnLst/>
            <a:rect l="l" t="t" r="r" b="b"/>
            <a:pathLst>
              <a:path w="4599258" h="468288">
                <a:moveTo>
                  <a:pt x="0" y="0"/>
                </a:moveTo>
                <a:lnTo>
                  <a:pt x="4599258" y="0"/>
                </a:lnTo>
                <a:lnTo>
                  <a:pt x="4599258" y="468288"/>
                </a:lnTo>
                <a:lnTo>
                  <a:pt x="0" y="46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25796" y="8863664"/>
            <a:ext cx="3303490" cy="29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b="1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29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021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1727020" y="1480000"/>
            <a:ext cx="1483396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5400" b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REFERENCIAS</a:t>
            </a:r>
          </a:p>
        </p:txBody>
      </p:sp>
      <p:sp>
        <p:nvSpPr>
          <p:cNvPr id="12" name="Referencias"/>
          <p:cNvSpPr txBox="1"/>
          <p:nvPr/>
        </p:nvSpPr>
        <p:spPr>
          <a:xfrm>
            <a:off x="1727020" y="2500000"/>
            <a:ext cx="14833960" cy="5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Carrier, B. (2005). File system forensic analysis. Addison-Wesley.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Russon, R., &amp; Fledel, Y. (s. f.). NTFS Documentation. Linux-NTFS Project. flatcap.github.io/linux-ntfs/ntfs/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Microsoft Corporation. (2025). NTFS overview. Microsoft Learn.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Microsoft Corporation. (2000). FAT32 File System Specification, v1.03.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Silberschatz, A., Galvin, P. B., &amp; Gagne, G. (2018). Operating system concepts (10th ed.). Wiley.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Tanenbaum, A. S., &amp; Bos, H. (2015). Modern operating systems (4th ed.). Pearson.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Hörz, M. (s. f.). HxD – Freeware Hex Editor and Disk Editor. mh-nexus.de/en/hxd/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Ubuntu Manpages. (s. f.). ntfsundelete(8).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Perkins, M., Furze, L., Roe, J., &amp; MacVaugh, J. (2024). The AI Assessment Scale (AIAS). JUTLP, 21(6). doi.org/10.53761/q3azde36</a:t>
            </a:r>
          </a:p>
          <a:p>
            <a:pPr algn="l">
              <a:spcAft>
                <a:spcPts val="1000"/>
              </a:spcAft>
            </a:pPr>
            <a:r>
              <a:rPr lang="es-CO" sz="200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•  Anthropic. (2026). Claude [Modelo de lenguaje de gran tamaño]. claude.ai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407285">
            <a:off x="3958143" y="-42357"/>
            <a:ext cx="10371714" cy="1037171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10407285">
            <a:off x="5363810" y="1434956"/>
            <a:ext cx="7560380" cy="756038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010735" y="3222761"/>
            <a:ext cx="507275" cy="507275"/>
          </a:xfrm>
          <a:custGeom>
            <a:avLst/>
            <a:gdLst/>
            <a:ahLst/>
            <a:cxnLst/>
            <a:rect l="l" t="t" r="r" b="b"/>
            <a:pathLst>
              <a:path w="507275" h="507275">
                <a:moveTo>
                  <a:pt x="0" y="0"/>
                </a:moveTo>
                <a:lnTo>
                  <a:pt x="507275" y="0"/>
                </a:lnTo>
                <a:lnTo>
                  <a:pt x="507275" y="507275"/>
                </a:lnTo>
                <a:lnTo>
                  <a:pt x="0" y="507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49095" y="8274124"/>
            <a:ext cx="6112214" cy="622335"/>
          </a:xfrm>
          <a:custGeom>
            <a:avLst/>
            <a:gdLst/>
            <a:ahLst/>
            <a:cxnLst/>
            <a:rect l="l" t="t" r="r" b="b"/>
            <a:pathLst>
              <a:path w="6112214" h="622335">
                <a:moveTo>
                  <a:pt x="0" y="0"/>
                </a:moveTo>
                <a:lnTo>
                  <a:pt x="6112215" y="0"/>
                </a:lnTo>
                <a:lnTo>
                  <a:pt x="6112215" y="622334"/>
                </a:lnTo>
                <a:lnTo>
                  <a:pt x="0" y="622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28581" y="1996808"/>
            <a:ext cx="6442371" cy="6726915"/>
          </a:xfrm>
          <a:custGeom>
            <a:avLst/>
            <a:gdLst/>
            <a:ahLst/>
            <a:cxnLst/>
            <a:rect l="l" t="t" r="r" b="b"/>
            <a:pathLst>
              <a:path w="6442371" h="6726915">
                <a:moveTo>
                  <a:pt x="0" y="0"/>
                </a:moveTo>
                <a:lnTo>
                  <a:pt x="6442371" y="0"/>
                </a:lnTo>
                <a:lnTo>
                  <a:pt x="6442371" y="6726915"/>
                </a:lnTo>
                <a:lnTo>
                  <a:pt x="0" y="67269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810335" y="3236572"/>
            <a:ext cx="7000000" cy="43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1"/>
              </a:lnSpc>
              <a:spcBef>
                <a:spcPct val="0"/>
              </a:spcBef>
            </a:pPr>
            <a:r>
              <a:rPr lang="en-US" sz="2536" spc="-116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UCO · </a:t>
            </a:r>
            <a:r>
              <a:rPr lang="en-US" sz="2536" spc="-116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Arquitectura</a:t>
            </a:r>
            <a:r>
              <a:rPr lang="en-US" sz="2536" spc="-116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del </a:t>
            </a:r>
            <a:r>
              <a:rPr lang="en-US" sz="2536" spc="-116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Computador</a:t>
            </a:r>
            <a:endParaRPr lang="en-US" sz="2536" spc="-116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98760" y="4198005"/>
            <a:ext cx="7690481" cy="148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sz="8600" spc="-47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GRACIAS…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98760" y="5472877"/>
            <a:ext cx="7690481" cy="148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sz="8600" b="1" spc="-475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¿PREGUNTAS?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59246" y="8388588"/>
            <a:ext cx="4132080" cy="35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1"/>
              </a:lnSpc>
              <a:spcBef>
                <a:spcPct val="0"/>
              </a:spcBef>
            </a:pPr>
            <a:r>
              <a:rPr lang="en-US" sz="2136" b="1" spc="-98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Laboratorio 1 · NTFS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2361310" y="1699773"/>
            <a:ext cx="6442371" cy="6726915"/>
          </a:xfrm>
          <a:custGeom>
            <a:avLst/>
            <a:gdLst/>
            <a:ahLst/>
            <a:cxnLst/>
            <a:rect l="l" t="t" r="r" b="b"/>
            <a:pathLst>
              <a:path w="6442371" h="6726915">
                <a:moveTo>
                  <a:pt x="6442371" y="0"/>
                </a:moveTo>
                <a:lnTo>
                  <a:pt x="0" y="0"/>
                </a:lnTo>
                <a:lnTo>
                  <a:pt x="0" y="6726915"/>
                </a:lnTo>
                <a:lnTo>
                  <a:pt x="6442371" y="6726915"/>
                </a:lnTo>
                <a:lnTo>
                  <a:pt x="6442371" y="0"/>
                </a:lnTo>
                <a:close/>
              </a:path>
            </a:pathLst>
          </a:custGeom>
          <a:blipFill>
            <a:blip r:embed="rId7">
              <a:alphaModFix amt="3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4663</Words>
  <Application>Microsoft Office PowerPoint</Application>
  <PresentationFormat>Personalizado</PresentationFormat>
  <Paragraphs>459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Courier New</vt:lpstr>
      <vt:lpstr>Garet</vt:lpstr>
      <vt:lpstr>Calibri</vt:lpstr>
      <vt:lpstr>Arial</vt:lpstr>
      <vt:lpstr>Garet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Wardiere.Inc</dc:title>
  <cp:lastModifiedBy>Juan Camilo Bernal  Carmona</cp:lastModifiedBy>
  <cp:revision>2</cp:revision>
  <dcterms:created xsi:type="dcterms:W3CDTF">2006-08-16T00:00:00Z</dcterms:created>
  <dcterms:modified xsi:type="dcterms:W3CDTF">2026-10-29T01:39:17Z</dcterms:modified>
  <dc:identifier>DAHY25PiiFM</dc:identifier>
</cp:coreProperties>
</file>